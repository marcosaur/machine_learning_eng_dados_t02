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36000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8288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C107"/>
                </a:solidFill>
                <a:latin typeface="Calibri"/>
              </a:rPr>
              <a:t>para Engenharia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Pós-Graduação Lato Sensu — Especialização em Engenharia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Universidade de Fortaleza (UNIFOR)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54880"/>
            <a:ext cx="54864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Prof. Cassio Pinheiro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linkedin.com/in/cassio-pinheiro-9baa7939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86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CARGA HORÁRIA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6060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24 horas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4747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DATAS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794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14, 15, 21, 22 e 23/maio/2026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389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MÓDULOS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709160"/>
            <a:ext cx="4114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  · Fundamentos e Preparação
II · Modelagem e Avaliação
III · Operacionalização (MLOps)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3B7A"/>
                </a:solidFill>
                <a:latin typeface="Calibri"/>
              </a:rPr>
              <a:t>Roteiro da Disciplina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10515600" cy="2743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657600" cy="118872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"/>
              </a:rPr>
              <a:t>Módulo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Fundamentos &amp; Preparação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3657600" cy="3200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Encontro 1: ML, CRISP-ML(Q), EDA
Encontro 2: Feature Eng. + Feature 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486400"/>
            <a:ext cx="3108960" cy="36576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3B7A"/>
                </a:solidFill>
                <a:latin typeface="Calibri"/>
              </a:rPr>
              <a:t>📅  14 e 15/maio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1463040"/>
            <a:ext cx="3657600" cy="1188720"/>
          </a:xfrm>
          <a:prstGeom prst="rect">
            <a:avLst/>
          </a:prstGeom>
          <a:solidFill>
            <a:srgbClr val="1E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16002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"/>
              </a:rPr>
              <a:t>Módulo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1965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Modelagem &amp; Avaliação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62272" y="2651760"/>
            <a:ext cx="3657600" cy="3200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288036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Encontro 3: Classificação/Regressão + Métricas
Encontro 4: Clustering + CV/Tuning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36592" y="5486400"/>
            <a:ext cx="3108960" cy="36576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5532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5DAA"/>
                </a:solidFill>
                <a:latin typeface="Calibri"/>
              </a:rPr>
              <a:t>📅  21 e 22/maio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84463" y="1463040"/>
            <a:ext cx="3657600" cy="11887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58783" y="16002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"/>
              </a:rPr>
              <a:t>Módulo III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8783" y="1965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Operacionalização (MLOps)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4463" y="2651760"/>
            <a:ext cx="3657600" cy="3200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58783" y="288036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Encontro 5: Serialização · Deploy · Drift
Retraining automatizado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58783" y="5486400"/>
            <a:ext cx="3108960" cy="36576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8783" y="5532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30613"/>
                </a:solidFill>
                <a:latin typeface="Calibri"/>
              </a:rPr>
              <a:t>📅  23/maio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1">
                <a:solidFill>
                  <a:srgbClr val="003B7A"/>
                </a:solidFill>
                <a:latin typeface="Calibri"/>
              </a:rPr>
              <a:t>Projeto fio condutor: sistema sintético de detecção de fraudes em transações financeiras (10k linhas, SEED=42)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Machine Learning para Engenharia de Dados — UNIFOR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3B7A"/>
                </a:solidFill>
                <a:latin typeface="Calibri"/>
              </a:rPr>
              <a:t>Objetivos da Disciplina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10515600" cy="2743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630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3B7A"/>
                </a:solidFill>
                <a:latin typeface="Calibri"/>
              </a:rPr>
              <a:t>Fundamentos teóricos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745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Dominar os principais algoritmos de aprendizado de máquina supervisionado e não-supervisionado.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914400" cy="9144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060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3B7A"/>
                </a:solidFill>
                <a:latin typeface="Calibri"/>
              </a:rPr>
              <a:t>Preparação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0175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Aplicar técnicas de feature engineering, tratamento em larga escala e arquiteturas de feature store.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914400" cy="9144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7490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3B7A"/>
                </a:solidFill>
                <a:latin typeface="Calibri"/>
              </a:rPr>
              <a:t>MLOps end-to-end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1605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Implementar pipelines completos: treinamento, serialização, deploy (batch/online) e versionamento.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00600"/>
            <a:ext cx="914400" cy="9144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8920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3B7A"/>
                </a:solidFill>
                <a:latin typeface="Calibri"/>
              </a:rPr>
              <a:t>Saúde em produção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3035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Avaliar e monitorar modelos: métricas (ROC/PR/RMSE), detecção de drift e retreinamento automatizado.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Machine Learning para Engenharia de Dados — UNIFOR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51200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C107"/>
                </a:solidFill>
                <a:latin typeface="Calibri"/>
              </a:rPr>
              <a:t>Módulo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Fundamentos e Preparação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14800"/>
            <a:ext cx="36576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Encontro 1 — Visão geral de ML, CRISP-ML(Q), 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Encontro 2 — Feature Engineering · Larga escala · Feature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▸  Datas: 14 e 15 de maio de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Machine Learning para Engenharia de Dados — UNIFOR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3B7A"/>
                </a:solidFill>
                <a:latin typeface="Calibri"/>
              </a:rPr>
              <a:t>Encontro 1 — Abertura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10515600" cy="2743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2286000" cy="365760"/>
          </a:xfrm>
          <a:prstGeom prst="round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Módulo 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777240"/>
            <a:ext cx="2286000" cy="320040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Encontro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457200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  <a:latin typeface="Calibri"/>
              </a:rPr>
              <a:t>DATA / HORÁRIO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3B7A"/>
                </a:solidFill>
                <a:latin typeface="Calibri"/>
              </a:rPr>
              <a:t>14/05/2026   ·   19:00 às 22:30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71600"/>
            <a:ext cx="5943600" cy="9144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4630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  <a:latin typeface="Calibri"/>
              </a:rPr>
              <a:t>MÓDULO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Fundamentos e Preparação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B7A"/>
                </a:solidFill>
                <a:latin typeface="Calibri"/>
              </a:rPr>
              <a:t>Objetivo do encontro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Estabelecer o vocabulário, a régua de qualidade e a postura de engenharia que sustentarão toda a disciplina. Primeira passagem sobre o dataset sintético de fraudes.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B7A"/>
                </a:solidFill>
                <a:latin typeface="Calibri"/>
              </a:rPr>
              <a:t>Tópicos cobertos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663440"/>
            <a:ext cx="365760" cy="365760"/>
          </a:xfrm>
          <a:prstGeom prst="ellipse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634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Visão geral de ML na Engenharia de Dados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166359"/>
            <a:ext cx="365760" cy="365760"/>
          </a:xfrm>
          <a:prstGeom prst="ellipse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66359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Ciclo de vida do projeto (CRISP-ML(Q))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669279"/>
            <a:ext cx="365760" cy="365760"/>
          </a:xfrm>
          <a:prstGeom prst="ellipse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69279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Análise Exploratória de Dados (EDA) focada em modelagem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Machine Learning para Engenharia de Dados — UNIFOR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3B7A"/>
                </a:solidFill>
                <a:latin typeface="Calibri"/>
              </a:rPr>
              <a:t>Visão geral de ML na Engenharia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10515600" cy="2743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2286000" cy="365760"/>
          </a:xfrm>
          <a:prstGeom prst="round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Módulo 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777240"/>
            <a:ext cx="2286000" cy="320040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E1 · E1T1</a:t>
            </a:r>
          </a:p>
        </p:txBody>
      </p:sp>
      <p:pic>
        <p:nvPicPr>
          <p:cNvPr id="7" name="Picture 6" descr="01_pipeline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132320" cy="25986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1371600"/>
            <a:ext cx="4114800" cy="4572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08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B7A"/>
                </a:solidFill>
                <a:latin typeface="Calibri"/>
              </a:rPr>
              <a:t>PONTOS-CHAVE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011680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96596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ML é UM nó do pipeline, não o pipeline inteiro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788920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74320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Cientista entrega notebook; engenheiro entrega sistema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566160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52044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Latência, versionamento e governança são requisitos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343399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297679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Feedback loop tóxico: cuidar de holdouts não-bloqueados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5120640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507492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Domínios regulados exigem explicabilidade desde dia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Machine Learning para Engenharia de Dados — UNIFOR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3B7A"/>
                </a:solidFill>
                <a:latin typeface="Calibri"/>
              </a:rPr>
              <a:t>Ciclo de vida do projeto — CRISP-ML(Q)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10515600" cy="2743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2286000" cy="365760"/>
          </a:xfrm>
          <a:prstGeom prst="round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Módulo 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777240"/>
            <a:ext cx="2286000" cy="320040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E1 · E1T2</a:t>
            </a:r>
          </a:p>
        </p:txBody>
      </p:sp>
      <p:pic>
        <p:nvPicPr>
          <p:cNvPr id="7" name="Picture 6" descr="02_crisp_ml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132320" cy="39697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1371600"/>
            <a:ext cx="4114800" cy="4572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08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B7A"/>
                </a:solidFill>
                <a:latin typeface="Calibri"/>
              </a:rPr>
              <a:t>PONTOS-CHAVE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011680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96596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6 fases com quality gates explícitos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788920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74320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Quality gates barram avanço sem critérios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566160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52044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Fase 6 (Monitoring) é a mais subestimada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343399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297679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~60% dos modelos degradam silenciosamente em 12 meses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5120640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507492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Cada fase tem entregáveis verificáveis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Machine Learning para Engenharia de Dados — UNIFOR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3B7A"/>
                </a:solidFill>
                <a:latin typeface="Calibri"/>
              </a:rPr>
              <a:t>EDA focada em modelagem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10515600" cy="2743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2286000" cy="365760"/>
          </a:xfrm>
          <a:prstGeom prst="round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Módulo 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777240"/>
            <a:ext cx="2286000" cy="320040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E1 · E1T3</a:t>
            </a:r>
          </a:p>
        </p:txBody>
      </p:sp>
      <p:pic>
        <p:nvPicPr>
          <p:cNvPr id="7" name="Picture 6" descr="03_eda_modelag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132320" cy="21345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1371600"/>
            <a:ext cx="4114800" cy="4572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08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B7A"/>
                </a:solidFill>
                <a:latin typeface="Calibri"/>
              </a:rPr>
              <a:t>PONTOS-CHAVE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011680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96596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Target imbalance dita escolha de métrica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788920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74320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Missingness pattern: MCAR · MAR · MNAR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566160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52044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EDA antes do split = leakage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343399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297679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Diagnóstico quantitativo &gt; visualizações intermináveis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5120640"/>
            <a:ext cx="137160" cy="13716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507492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Cada gráfico responde a UMA hipótese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Machine Learning para Engenharia de Dados — UNIFOR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3B7A"/>
                </a:solidFill>
                <a:latin typeface="Calibri"/>
              </a:rPr>
              <a:t>Prática — Encontro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78992"/>
            <a:ext cx="10515600" cy="2743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2286000" cy="365760"/>
          </a:xfrm>
          <a:prstGeom prst="round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Módulo 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777240"/>
            <a:ext cx="2286000" cy="320040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Encontro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Calibri"/>
              </a:rPr>
              <a:t>Fundamentos e Preparação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6858000" cy="4114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3B7A"/>
                </a:solidFill>
                <a:latin typeface="Calibri"/>
              </a:rPr>
              <a:t>Notebook: ML_Engenharia_Dados_pratica.ipynb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Seção 'Encontro 1' — dataset sintético determinístico (SEED=42)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Células executadas em sala: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1005840" cy="365760"/>
          </a:xfrm>
          <a:prstGeom prst="round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E1T1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383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Célula [E1T1] — referência cruzada com documento 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86200"/>
            <a:ext cx="1005840" cy="365760"/>
          </a:xfrm>
          <a:prstGeom prst="round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E1T2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886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Célula [E1T2] — referência cruzada com documento 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1005840" cy="365760"/>
          </a:xfrm>
          <a:prstGeom prst="round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E1T3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389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Célula [E1T3] — referência cruzada com documento .md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828800"/>
            <a:ext cx="3840480" cy="41148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965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  <a:latin typeface="Calibri"/>
              </a:rPr>
              <a:t>DURAÇÃO SUGERIDA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2860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1h 30min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017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  <a:latin typeface="Calibri"/>
              </a:rPr>
              <a:t>FORMATO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3375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Execução guiada célula a célula com discussão de outputs em tempo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663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  <a:latin typeface="Calibri"/>
              </a:rPr>
              <a:t>EXERCÍCIO FINAL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9834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30 min — adaptar a pipeline para variação do problema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Machine Learning para Engenharia de Dados — UNIFOR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