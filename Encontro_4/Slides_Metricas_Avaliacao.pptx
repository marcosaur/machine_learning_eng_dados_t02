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C107"/>
                </a:solidFill>
                <a:latin typeface="Calibri"/>
              </a:defRPr>
            </a:pPr>
            <a:r>
              <a:t>UNIFOR · PÓS-GRADUAÇÃO LATO SENSU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Machine Learning para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6400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FC107"/>
                </a:solidFill>
                <a:latin typeface="Calibri"/>
              </a:defRPr>
            </a:pPr>
            <a:r>
              <a:t>ENCONTRO</a:t>
            </a:r>
            <a:br/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Métricas de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 Modelos de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FFC107"/>
                </a:solidFill>
                <a:latin typeface="Calibri"/>
              </a:defRPr>
            </a:pPr>
            <a:r>
              <a:t>Foco em Negócios · Classificação Binária &amp; Multiclasse · Regressão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CCD6E4"/>
                </a:solidFill>
                <a:latin typeface="Calibri"/>
              </a:defRPr>
            </a:pPr>
            <a:r>
              <a:t>Prof. Cassio Pinheiro  ·  cassiopo7@gmail.com  ·  Universidade de Fortaleza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03B7A"/>
                </a:solidFill>
                <a:latin typeface="Calibri"/>
              </a:defRPr>
            </a:pPr>
            <a:r>
              <a:t>O Risco da Acurácia Cega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Por que precisamos de métricas específicas em cenários desbalanceados?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Encontro 4 · Métricas de Avaliação · Prof. Cassio Pinheiro · UNIFOR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2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O Cenário de Classes Raras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Quando a maioria esconde os problemas reais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Em problemas de negócio reais, as classes de interesse (fraude, churn, doença) costumam ser raras.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Exemplo de Detecção de Fraude: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Em cartões de crédito, ~0.1% das transações são fraudes.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Se um modelo simplesmente prever 'legítimo' para 100% das requisições, ele obterá uma acurácia incrível de 99.9%.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No entanto, o modelo falhará em capturar exatamente aquilo para o qual foi construído: as fraudes.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Conclusão: A acurácia pura mascara falhas graves de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Acurácia = 99.9% (Modelo Inútil)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146304" cy="452628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Impacto Financeiro e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Custo Assimétrico do Erro no Mundo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Na engenharia de dados e negócios, erros possuem custos financeiros e operacionais diferentes: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Falso Positivo (FP): Bloquear um cliente legítimo.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Custo: Atrito temporário na jornada, exigindo revalidação ou verificação por SMS.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Falso Negativo (FN): Deixar passar uma fraude real.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Custo: Prejuízo financeiro direto e reembolso do valor fraudado pelo banco.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Em Saúde Pública: Um FN significa deixar um doente sem diagnóstico e sem tratamento (risco de morte).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Regra de Ouro: Identifique o tipo de erro mais caro ao negócio e otimize o modelo para minimizá-lo.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Foco: Otimizar pelo Custo do Erro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03B7A"/>
                </a:solidFill>
                <a:latin typeface="Calibri"/>
              </a:defRPr>
            </a:pPr>
            <a:r>
              <a:t>Classificação Binária: Precisão vs.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A escolha do threshold de decisão determina qual tipo de erro iremos priorizar.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Encontro 4 · Métricas de Avaliação · Prof. Cassio Pinheiro · UNIFOR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PRECISÃO (Precision)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Foco em Minimizar Falsos Positivos (FP)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Equação matemática: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Precision = TP / (TP + FP)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Intuição: 'De tudo o que o modelo previu como Positivo (Fraude/Spam), quanto era realmente Positivo?'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Quando usar: Quando o custo de cometer um Falso Positivo é inaceitável.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Exemplos práticos: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Filtro de Spam: Um e-mail de negócios legítimo (FP) enviado para a pasta de spam causa perda operacional.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Aprovação Automática de Crédito: Minimizar o risco de aprovar clientes inadimplentes.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Foco: Evitar Falsos Positivos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146304" cy="452628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RECALL (Sensibilidade)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Foco em Minimizar Falsos Negativos (FN)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Equação matemática: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Recall = TP / (TP + FN)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Intuição: 'De tudo o que é realmente Positivo no mundo real, qual fração o modelo conseguiu capturar?'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Quando usar: Quando o custo de cometer um Falso Negativo é intolerável.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Exemplos práticos: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Triagem Médica (Ex: Projeto 3): Deixar um paciente infectado (FN) sem isolamento espalha a doença.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Alarmes de Incêndio: O alarme precisa disparar em qualquer sinal, mesmo que haja alguns alarmes falsos.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Foco: Evitar Falsos Negativos (Captura Máxima)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03B7A"/>
                </a:solidFill>
                <a:latin typeface="Calibri"/>
              </a:defRPr>
            </a:pPr>
            <a:r>
              <a:t>Classes Raras: F1-Score e Curva AUC-ROC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Métricas robustas para avaliar o modelo sob desbalanceamento severo.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Encontro 4 · Métricas de Avaliação · Prof. Cassio Pinheiro · UNIFOR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Média Harmônica entre Precision e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Equação matemática: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F1 = 2 * (Precision * Recall) / (Precision + Recall)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Por que Média Harmônica e não aritmética simples?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A média harmônica penaliza desbalanços extremos.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Se a Precisão for 1.0 e o Recall for 0.01, a média simples é 50.5%, mas o F1-Score desaba para apenas 1.98%!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Indispensável em classes raras: Garante que ambos, Precisão e Recall, estejam em níveis aceitáveis.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Laboratório: Projeto 2 (Queimadas) exige F1 &gt; 0.65.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Alvo do Projeto 2: F1-Score &gt; 0.65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146304" cy="452628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CURVA AUC-ROC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Área Sob a Curva de Operação do Receptor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O que mede: A capacidade intrínseca do modelo de separar e ordenar as classes, independente do threshold de decisão.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Como funciona: Plota a Taxa de Verdadeiros Positivos (TPR) contra a Taxa de Falsos Positivos (FPR) para todos os thresholds possíveis (0 a 1).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Interpretação: A probabilidade de o modelo classificar um positivo real acima de um negativo real aleatório.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Caso de Uso: Churn de Telecom (Projeto 5). Precisamos ordenar a lista de clientes para priorizar ações preventivas.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Alvo do Projeto 5: AUC-ROC &gt; 0.80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03B7A"/>
                </a:solidFill>
                <a:latin typeface="Calibri"/>
              </a:defRPr>
            </a:pPr>
            <a:r>
              <a:t>Classificação Multiclasse e Matriz de Confusão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Avaliando predições com múltiplos targets e desbalanço severo.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Encontro 4 · Métricas de Avaliação · Prof. Cassio Pinheiro · UNIFOR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5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O Desafio Multiclasse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A ilusão de acurácia com múltiplos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Ocorre quando o target possui 3 ou mais categorias discretas (ex: classificar imagem em cão/gato/cavalo).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O desbalanceamento continua sendo uma armadilha crítica: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Se a classe A possui 90% das amostras, e as classes B e C possuem 5% cada: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Um classificador ineficiente que chuta sempre 'Classe A' atinge 90% de Acurácia global.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No entanto, ele falha em 100% das predições de B e C.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Acurácia clássica não é confiável nesses cenários.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Evite a Acurácia Global Simples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146304" cy="452628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Balanced Accuracy (Acurácia Balanceada)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Recall individual e Matriz de Confusão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Balanced Accuracy calcula o Recall separadamente para cada classe e extrai a média aritmética simples.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No exemplo anterior: Recall A = 1.0, Recall B = 0.0, Recall C = 0.0.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Acurácia Balanceada = (1.0 + 0.0 + 0.0) / 3 = 33.3%!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Expõe o fraco desempenho do modelo nas classes raras.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Matriz de Confusão: Essencial para enxergar se o modelo confunde o dígito 3 com o 8, ou 1 com o 7 (Projeto 4).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Laboratório: Projeto 4 (Reconhecimento de Dígitos por Imagem) exige Balanced Accuracy &gt; 0.90.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Alvo do Projeto 4: Balanced Acc &gt; 0.90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03B7A"/>
                </a:solidFill>
                <a:latin typeface="Calibri"/>
              </a:defRPr>
            </a:pPr>
            <a:r>
              <a:t>Regressão: Métricas para Predição Contínua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Como quantificar o erro quando o objetivo é prever uma variável contínua (número real).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Encontro 4 · Métricas de Avaliação · Prof. Cassio Pinheiro · UNIFOR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6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6576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Erro Médio Absoluto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32461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Equação matemática: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MAE = (1/n) * Σ |y_i - ŷ_i|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Intuição e Detalhes: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Média aritmética simples das distâncias absolutas do erro.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O erro é linear. Errar por R$ 10 tem metade do peso de errar por R$ 20.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Muito robusto a outliers (erros extremos não dominam o cálculo).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Linguagem do negócio: Explicável diretamente à diretoria.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Projeto 6: Planos de Saúde.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806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Foco: Robustez a Outliers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6576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146304" cy="452628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8288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031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Raiz do Erro Quadrático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423160"/>
            <a:ext cx="32461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Equação matemática: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RMSE = √[ (1/n) * Σ (y_i - ŷ_i)² ]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Intuição e Detalhes: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Eleva a diferença ao quadrado antes de somar, penalizando erros muito grandes de forma severa.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Errar uma única vez por 100 dói muito mais do que errar 10 vezes por 10.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Muito sensível a desvios severos (outliers).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Projeto 1: Precificação de Imóveis (desvios grandes inviabilizam o negócio).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5806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Foco: Penalizar Grandes Erros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91640"/>
            <a:ext cx="36576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8288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1031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Coeficiente de Determinação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423160"/>
            <a:ext cx="32461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Equação matemática: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R² = 1 - (SS_res / SS_tot)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Intuição e Detalhes: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Indica a proporção da variância dos dados reais explicada pelo modelo.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Varia de 0 (prevê a média dos valores) a 1 (modelo perfeito).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- Permite comparar a qualidade do ajuste entre problemas de escalas distintas (ex: imóveis de milhões vs. planos de saúde de centenas).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5806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Foco: Variância Explicada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03B7A"/>
                </a:solidFill>
                <a:latin typeface="Calibri"/>
              </a:defRPr>
            </a:pPr>
            <a:r>
              <a:t>Laboratório de Avaliação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Calibri"/>
              </a:defRPr>
            </a:pPr>
            <a:r>
              <a:t>Dinâmica de entrega dos 6 projetos práticos e divisão da turma.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Encontro 4 · Métricas de Avaliação · Prof. Cassio Pinheiro · UNIFOR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555555"/>
                </a:solidFill>
                <a:latin typeface="Calibri"/>
              </a:defRPr>
            </a:pPr>
            <a:r>
              <a:t>7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46304" cy="4526280"/>
          </a:xfrm>
          <a:prstGeom prst="rect">
            <a:avLst/>
          </a:prstGeom>
          <a:solidFill>
            <a:srgbClr val="003B7A"/>
          </a:solidFill>
          <a:ln>
            <a:solidFill>
              <a:srgbClr val="003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Dinâmica do Laboratório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Instruções Passo a Passo para as Equipes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1. Crie o pipeline de preparação e modelagem no notebook da equipe.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2. Utilize validação cruzada para garantir estabilidade.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3. Otimize os hiperparâmetros visando o threshold mínimo do respectivo projeto.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4. Salve o modelo final treinado (.joblib) dentro da pasta correspondente do projeto.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5. Implemente o payload de inferência simulada (production payload).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6. Cada equipe apresentará os trade-offs de métricas e o pipeline desenvolvido no 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Entrega: Código + joblib + inferência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486400" cy="4526280"/>
          </a:xfrm>
          <a:prstGeom prst="round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146304" cy="452628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03B7A"/>
                </a:solidFill>
                <a:latin typeface="Calibri"/>
              </a:defRPr>
            </a:pPr>
            <a:r>
              <a:t>Divisão Recomendada das Equipes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55555"/>
                </a:solidFill>
                <a:latin typeface="Calibri"/>
              </a:defRPr>
            </a:pPr>
            <a:r>
              <a:t>11 Alunos distribuídos nos 6 Projetos Práticos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23160"/>
            <a:ext cx="5074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Proj. 1 (Imóveis - R² &gt; 0.70):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Fabio Sousa &amp; Rebeca Diabele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Proj. 2 (Queimadas - F1-Score &gt; 0.65):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Guilherme Moura &amp; Evelin Montes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Proj. 3 (Saúde - Recall &gt; 0.80):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Rafael Tavares &amp; Dante Dantas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Proj. 4 (Dígitos - Balanced Acc &gt; 0.90):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Jose Jardel &amp; Mariana Rufino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Proj. 5 (Churn - AUC-ROC &gt; 0.80):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Wendember Henrique &amp; Psiris Castro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Proj. 6 (Custos de Saúde - R² &gt; 0.75):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t>  Joabe (Individual)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5806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3B7A"/>
                </a:solidFill>
                <a:latin typeface="Calibri"/>
              </a:defRPr>
            </a:pPr>
            <a:r>
              <a:t>Equipes Oficializadas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