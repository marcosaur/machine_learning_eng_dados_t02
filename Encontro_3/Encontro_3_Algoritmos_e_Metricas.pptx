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UNIFOR · PÓS-GRADUAÇÃO LATO SENSU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144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Machine Learning para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640080"/>
            <a:ext cx="320040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4400" b="1" i="0">
                <a:solidFill>
                  <a:srgbClr val="FFC107"/>
                </a:solidFill>
                <a:latin typeface="Calibri"/>
              </a:rPr>
              <a:t>ENCONTRO</a:t>
            </a:r>
          </a:p>
          <a:p>
            <a:pPr algn="ctr"/>
            <a:r>
              <a:rPr sz="4400" b="1" i="0">
                <a:solidFill>
                  <a:srgbClr val="FFC107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Algoritmos de Classificação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e Regressão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1">
                <a:solidFill>
                  <a:srgbClr val="FFC107"/>
                </a:solidFill>
                <a:latin typeface="Calibri"/>
              </a:rPr>
              <a:t>Métricas de Avaliação · Matriz de Confusão · AUC-ROC ·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CCD6E4"/>
                </a:solidFill>
                <a:latin typeface="Calibri"/>
              </a:rPr>
              <a:t>Prof. Cassio Pinheiro  ·  cassiopo7@gmail.com  ·  Universidade de Fortaleza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03B7A"/>
                </a:solidFill>
                <a:latin typeface="Calibri"/>
              </a:rPr>
              <a:t>Roteiro do encontro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Algoritmo certo, métrica certa, decisão certa. Nada de Pipeline hoje — isso fica para amanhã.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713232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764792"/>
            <a:ext cx="475488" cy="475488"/>
          </a:xfrm>
          <a:prstGeom prst="ellipse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64792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55648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03B7A"/>
                </a:solidFill>
                <a:latin typeface="Calibri"/>
              </a:rPr>
              <a:t>Classificação vs Regressão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57400"/>
            <a:ext cx="9875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fronteira de decisão vs valor contínuo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0972800" cy="713232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59" y="2587752"/>
            <a:ext cx="475488" cy="475488"/>
          </a:xfrm>
          <a:prstGeom prst="ellipse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587752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78608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03B7A"/>
                </a:solidFill>
                <a:latin typeface="Calibri"/>
              </a:rPr>
              <a:t>Catálogo de algoritmos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60"/>
            <a:ext cx="9875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quando usar LR, RF, GBM, SVM, KNN, etc.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10972800" cy="713232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" y="3410712"/>
            <a:ext cx="475488" cy="475488"/>
          </a:xfrm>
          <a:prstGeom prst="ellipse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410712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401568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03B7A"/>
                </a:solidFill>
                <a:latin typeface="Calibri"/>
              </a:rPr>
              <a:t>Aplicações reais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03320"/>
            <a:ext cx="9875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fraude, diagnóstico, pricing, ETA, churn, demanda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10972800" cy="713232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59" y="4233672"/>
            <a:ext cx="475488" cy="475488"/>
          </a:xfrm>
          <a:prstGeom prst="ellipse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233672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24528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03B7A"/>
                </a:solidFill>
                <a:latin typeface="Calibri"/>
              </a:rPr>
              <a:t>Matriz de Confusão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26280"/>
            <a:ext cx="9875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TP, FP, TN, FN e suas derivadas (precision, recall, F1)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10972800" cy="713232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59" y="5056632"/>
            <a:ext cx="475488" cy="475488"/>
          </a:xfrm>
          <a:prstGeom prst="ellipse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056632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47488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03B7A"/>
                </a:solidFill>
                <a:latin typeface="Calibri"/>
              </a:rPr>
              <a:t>AUC-ROC e AUC-PR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349240"/>
            <a:ext cx="9875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separabilidade e a armadilha do dataset desbalanceado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60720"/>
            <a:ext cx="10972800" cy="713232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5879592"/>
            <a:ext cx="475488" cy="475488"/>
          </a:xfrm>
          <a:prstGeom prst="ellipse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879592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 i="0">
                <a:solidFill>
                  <a:srgbClr val="FFC107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870448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03B7A"/>
                </a:solidFill>
                <a:latin typeface="Calibri"/>
              </a:rPr>
              <a:t>Métricas de Regressão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6172200"/>
            <a:ext cx="9875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MAE, MSE, RMSE, MAPE, R² — outliers importam?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Encontro 3 · Algoritmos &amp; Métricas · Prof. Cassio Pinheiro · UNIFOR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03B7A"/>
                </a:solidFill>
                <a:latin typeface="Calibri"/>
              </a:rPr>
              <a:t>ML supervisionado em dois sabores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 pergunta que o problema responde decide o algoritmo e a métrica.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00" cy="411480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3492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CLASSIFICAÇÃO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03B7A"/>
                </a:solidFill>
                <a:latin typeface="Calibri"/>
              </a:rPr>
              <a:t>Pergunta: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Qual classe?  (rótulo discreto)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03B7A"/>
                </a:solidFill>
                <a:latin typeface="Calibri"/>
              </a:rPr>
              <a:t>Tipos: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51206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Binária — sim/não, fraude/legítimo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Multiclasse — gato/cão/cavalo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Multilabel — várias tags simultaneamente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03B7A"/>
                </a:solidFill>
                <a:latin typeface="Calibri"/>
              </a:rPr>
              <a:t>Saída do modelo: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.predict() → classe   ·   .predict_proba() → probabilidade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5780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03B7A"/>
                </a:solidFill>
                <a:latin typeface="Calibri"/>
              </a:rPr>
              <a:t>Métricas centrais: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5120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Matriz de Confusão · Precision · Recall · F1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AUC-ROC · AUC-PR · LogLoss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9164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691640"/>
            <a:ext cx="5486400" cy="41148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91640"/>
            <a:ext cx="53492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 i="0">
                <a:solidFill>
                  <a:srgbClr val="002855"/>
                </a:solidFill>
                <a:latin typeface="Calibri"/>
              </a:rPr>
              <a:t>REGRESSÃO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4028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03B7A"/>
                </a:solidFill>
                <a:latin typeface="Calibri"/>
              </a:rPr>
              <a:t>Pergunta: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1460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Quanto?  (valor contínuo)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7180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03B7A"/>
                </a:solidFill>
                <a:latin typeface="Calibri"/>
              </a:rPr>
              <a:t>Tipos: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46120"/>
            <a:ext cx="51206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Linear — relação aproximadamente proporcional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Não-linear — interações, threshold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• Série temporal — autocorrelação no tempo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3484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03B7A"/>
                </a:solidFill>
                <a:latin typeface="Calibri"/>
              </a:rPr>
              <a:t>Saída do modelo: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09160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.predict() → número real (R)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25780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03B7A"/>
                </a:solidFill>
                <a:latin typeface="Calibri"/>
              </a:rPr>
              <a:t>Métricas centrais: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532120"/>
            <a:ext cx="5120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MAE · MSE · RMSE · MAPE · sMAPE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R² · MedAE · Quantile Loss (pinball)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Encontro 3 · Algoritmos &amp; Métricas · Prof. Cassio Pinheiro · UNIFOR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03B7A"/>
                </a:solidFill>
                <a:latin typeface="Calibri"/>
              </a:rPr>
              <a:t>Classificação · catálogo de algoritmos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Não existe um vencedor universal. Cada família resolve um tipo de problema.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697480" cy="201168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Baseline forte, interpretável.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Prob. calibradas. Bom para risco de crédito.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91640"/>
            <a:ext cx="2697480" cy="201168"/>
          </a:xfrm>
          <a:prstGeom prst="rect">
            <a:avLst/>
          </a:prstGeom>
          <a:solidFill>
            <a:srgbClr val="1E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Decision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Árvore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71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Interpretável (regras).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Sofre overfitting sem poda.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2697480" cy="201168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965960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5176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Ensemble bag.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Robusto, pouco hiperparâmetro.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Gold standard tabular.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691640"/>
            <a:ext cx="2697480" cy="201168"/>
          </a:xfrm>
          <a:prstGeom prst="rect">
            <a:avLst/>
          </a:prstGeom>
          <a:solidFill>
            <a:srgbClr val="1E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965960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Gradient Boosting</a:t>
            </a:r>
          </a:p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(XGB / LGBM / CatBoost)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5176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Ensemble boost.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71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SOTA em dados tabulares.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Vence Kaggle. Mais sensível a tuning.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77639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977639"/>
            <a:ext cx="2697480" cy="20116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51959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SVM (kernel RBF)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37759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Margem máxima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Excelente em alta dimensão.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Lento em datasets grandes.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977639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977639"/>
            <a:ext cx="2697480" cy="20116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251959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KNN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937759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Memória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257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Sem treino real. Decisão local.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Ruim em alta dimensão.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977639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977639"/>
            <a:ext cx="2697480" cy="20116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251959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Naive Bayes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937759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Probabilístico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257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Texto/NLP simples.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Assume independência das features.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40" y="3977639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06840" y="3977639"/>
            <a:ext cx="2697480" cy="20116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4251959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Redes Neurais (MLP)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937759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Deep Learning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257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Bom para imagem/áudio/texto.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Exige mais dados e compute.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6126480"/>
            <a:ext cx="10972800" cy="411480"/>
          </a:xfrm>
          <a:prstGeom prst="roundRect">
            <a:avLst>
              <a:gd name="adj" fmla="val 18000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612648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1">
                <a:solidFill>
                  <a:srgbClr val="FFC107"/>
                </a:solidFill>
                <a:latin typeface="Calibri"/>
              </a:rPr>
              <a:t>Regra do polegar: comece em Logistic Regression. Suba para Gradient Boosting se a métrica não fechar.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Encontro 3 · Algoritmos &amp; Métricas · Prof. Cassio Pinheiro · UNIFOR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03B7A"/>
                </a:solidFill>
                <a:latin typeface="Calibri"/>
              </a:rPr>
              <a:t>Classificação no mundo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Cada vertical tem sua dor. A métrica reflete essa dor — não a conveniência do modelo.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0136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FINANCEIRO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Nubank · Itaú · 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Fraude em cartão de crédito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0.1% de positivos. FP = atrito do cliente. FN = perda direta.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7472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AUC-PR · Recall@Precision fixo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80136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SAÚDE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10312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Hospital Sírio · DermAI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46888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Triagem de imagem (câncer, retinopatia)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FN é mortal. Recall altíssimo &gt; 0.99.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47472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Recall · Sensibilidade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69164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69164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180136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E-MAIL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210312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Gmail ·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246888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Detecção de spam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FP destrói confiança (e-mail importante na lixeira).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347472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Precision · F0.5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862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88620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99592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CRÉDITO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29768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Serasa · ClearSale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66344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Aprovação de crédito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Fairness + lift de inadimplência. Modelo calibrado.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66928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AUC-ROC · KS · Gini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8862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88620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99592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RETENÇÃO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29768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Netflix · Telecom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66344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Predição de churn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Acionar campanha apenas em clientes acima de threshold.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566928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AUC-ROC · Lift@Top10%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59" y="38862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59" y="388620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7" y="399592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SUPORTE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429768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Zendesk · Movidesk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7" y="466344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Roteamento de tickets (multiclasse)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Evita rebote entre filas. Tempo de resolução cai 30%.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7" y="566928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Macro-F1 · Acurácia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Padrão: identifique o erro caro (FP ou FN), e a métrica vem por consequência.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Encontro 3 · Algoritmos &amp; Métricas · Prof. Cassio Pinheiro · UNIFOR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03B7A"/>
                </a:solidFill>
                <a:latin typeface="Calibri"/>
              </a:rPr>
              <a:t>Regressão · catálogo de algoritmos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Mesma família dos classificadores — diferença está na função-objetivo.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697480" cy="201168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Linear Regression</a:t>
            </a:r>
          </a:p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(OLS)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Ponto de partida. Interpretável.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Falha se há não-linearidade.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91640"/>
            <a:ext cx="2697480" cy="201168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Ridge / Lasso / Elastic 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Linear + reg.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71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Regularização.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Lasso faz seleção de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2697480" cy="201168"/>
          </a:xfrm>
          <a:prstGeom prst="rect">
            <a:avLst/>
          </a:prstGeom>
          <a:solidFill>
            <a:srgbClr val="1E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965960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Decision Tree Regressor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5176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Árvore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Captura não-linearidade simples.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Descontínuo (degraus).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691640"/>
            <a:ext cx="2697480" cy="201168"/>
          </a:xfrm>
          <a:prstGeom prst="rect">
            <a:avLst/>
          </a:prstGeom>
          <a:solidFill>
            <a:srgbClr val="1E5D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965960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Random Forest Regressor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51760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Ensemble bag.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71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Robusto, baixo tuning.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Não extrapola fora do range de treino.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77639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977639"/>
            <a:ext cx="2697480" cy="20116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51959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Gradient Boosting Regressor</a:t>
            </a:r>
          </a:p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(XGB / LGBM)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37759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Ensemble boost.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SOTA em tabular.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Ótimo para pricing e forecasting.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977639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977639"/>
            <a:ext cx="2697480" cy="20116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251959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SVR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937759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Margem máxima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257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Pequenas amostras com alta dim.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Lento em N &gt; 50k.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977639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977639"/>
            <a:ext cx="2697480" cy="20116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251959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KNN Regressor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937759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Memória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257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Útil em interpolação local.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Sensível a outliers.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40" y="3977639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06840" y="3977639"/>
            <a:ext cx="2697480" cy="20116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4251959"/>
            <a:ext cx="2423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Redes Neurais (MLP)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937759"/>
            <a:ext cx="2423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Deep Learning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257800"/>
            <a:ext cx="2423160" cy="7315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Bom em séries temporais (LSTM)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 forecasting com sazonalidade.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6126480"/>
            <a:ext cx="10972800" cy="411480"/>
          </a:xfrm>
          <a:prstGeom prst="roundRect">
            <a:avLst>
              <a:gd name="adj" fmla="val 18000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612648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1">
                <a:solidFill>
                  <a:srgbClr val="FFC107"/>
                </a:solidFill>
                <a:latin typeface="Calibri"/>
              </a:rPr>
              <a:t>Em regressão tabular: comece em Ridge para baseline calibrado, suba para XGBoost/LightGBM em produção.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Encontro 3 · Algoritmos &amp; Métricas · Prof. Cassio Pinheiro · UNIFOR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003B7A"/>
                </a:solidFill>
                <a:latin typeface="Calibri"/>
              </a:rPr>
              <a:t>Regressão no mundo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1155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Sempre que a resposta é “quanto?”, RMSE/MAPE/MAE viram a linguagem do negócio.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0136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LOGÍSTICA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iFood · Uber · Rappi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ETA — tempo de entrega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Usuário tolera ±5 min. MAE em minutos é o KPI.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7472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MAE · P90 do erro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9164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80136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PRECIFICAÇÃO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10312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Airbnb · Uber Surge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46888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Pricing dinâmico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MAPE em % para comparar entre faixas de preço.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47472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MAPE · sMAPE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69164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69164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180136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IMÓVEIS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210312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Quinto Andar · Loft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246888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Avaliação automatizada (AVM)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MAPE &lt; 10% é benchmark de mercado.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347472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MAPE · MedAE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862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88620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99592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VAREJO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29768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Magazine Luiza · MercadoLivre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66344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Forecast de demanda por SKU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RMSE por SKU agrega em receita.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66928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RMSE · WAPE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8862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88620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99592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FINTECH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29768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Nubank · Stone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66344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LTV (Lifetime Value) de cliente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RMSE em R$ para alocação de CAC.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566928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RMSE · R²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59" y="38862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59" y="3886200"/>
            <a:ext cx="146304" cy="21031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7" y="399592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4297680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03B7A"/>
                </a:solidFill>
                <a:latin typeface="Calibri"/>
              </a:rPr>
              <a:t>AWS · Cloudflare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7" y="4663440"/>
            <a:ext cx="3246120" cy="10058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Forecast de carga de servidor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MAPE p/ autoscaling antecipado.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7" y="5669280"/>
            <a:ext cx="3246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1E5DAA"/>
                </a:solidFill>
                <a:latin typeface="Calibri"/>
              </a:rPr>
              <a:t>MAPE · Quantile Loss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A métrica que vira KPI no negócio dita a função de perda do treino.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Encontro 3 · Algoritmos &amp; Métricas · Prof. Cassio Pinheiro · UNIFOR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73952"/>
            <a:ext cx="914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4572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  <a:latin typeface="Calibri"/>
              </a:rPr>
              <a:t>BLOCO PRINCIPAL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Métricas de Avaliação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1">
                <a:solidFill>
                  <a:srgbClr val="FFC107"/>
                </a:solidFill>
                <a:latin typeface="Calibri"/>
              </a:rPr>
              <a:t>Como medir se o modelo está “bom o suficiente”.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94960"/>
            <a:ext cx="3657600" cy="914400"/>
          </a:xfrm>
          <a:prstGeom prst="roundRect">
            <a:avLst>
              <a:gd name="adj" fmla="val 20000"/>
            </a:avLst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5504688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Classificação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870448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C107"/>
                </a:solidFill>
                <a:latin typeface="Calibri"/>
              </a:rPr>
              <a:t>Matriz de Confusão, F1, AUC-ROC/PR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394960"/>
            <a:ext cx="3657600" cy="914400"/>
          </a:xfrm>
          <a:prstGeom prst="roundRect">
            <a:avLst>
              <a:gd name="adj" fmla="val 20000"/>
            </a:avLst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5504688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Regressão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870448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C107"/>
                </a:solidFill>
                <a:latin typeface="Calibri"/>
              </a:rPr>
              <a:t>MAE, RMSE, MAPE, 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5394960"/>
            <a:ext cx="3657600" cy="914400"/>
          </a:xfrm>
          <a:prstGeom prst="roundRect">
            <a:avLst>
              <a:gd name="adj" fmla="val 20000"/>
            </a:avLst>
          </a:prstGeom>
          <a:solidFill>
            <a:srgbClr val="003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5504688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Trade-offs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870448"/>
            <a:ext cx="3291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C107"/>
                </a:solidFill>
                <a:latin typeface="Calibri"/>
              </a:rPr>
              <a:t>qual erro é caro?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